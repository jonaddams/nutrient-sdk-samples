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9"/>
  </p:notesMasterIdLst>
  <p:handoutMasterIdLst>
    <p:handoutMasterId r:id="rId10"/>
  </p:handoutMasterIdLst>
  <p:sldIdLst>
    <p:sldId id="275" r:id="rId5"/>
    <p:sldId id="274" r:id="rId6"/>
    <p:sldId id="276" r:id="rId7"/>
    <p:sldId id="272" r:id="rId8"/>
  </p:sldIdLst>
  <p:sldSz cx="100584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orient="horz" pos="2784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4D8C"/>
    <a:srgbClr val="1A305C"/>
    <a:srgbClr val="3F765F"/>
    <a:srgbClr val="367058"/>
    <a:srgbClr val="1B4935"/>
    <a:srgbClr val="679B9B"/>
    <a:srgbClr val="25654A"/>
    <a:srgbClr val="E6E6E6"/>
    <a:srgbClr val="F38571"/>
    <a:srgbClr val="FFB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6" autoAdjust="0"/>
    <p:restoredTop sz="93725" autoAdjust="0"/>
  </p:normalViewPr>
  <p:slideViewPr>
    <p:cSldViewPr snapToGrid="0" showGuides="1">
      <p:cViewPr>
        <p:scale>
          <a:sx n="100" d="100"/>
          <a:sy n="100" d="100"/>
        </p:scale>
        <p:origin x="-130" y="-850"/>
      </p:cViewPr>
      <p:guideLst>
        <p:guide orient="horz" pos="2088"/>
        <p:guide orient="horz" pos="2784"/>
        <p:guide orient="horz" pos="576"/>
        <p:guide pos="3168"/>
      </p:guideLst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B51015-12CA-4649-B47F-D3EB5E1095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11F2F-D8BA-4A13-91FC-3878C75727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68B7C-E4CD-4872-B084-44133F808FCE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FD67D-A60A-4914-89F3-9FC43EF547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642D8-EDCF-4A15-A29F-1B065ECC2E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E8E42-E7C5-4B24-8575-74A765CA0A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330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3D5BD-E30B-48AB-B24F-3878C333D518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1A707-0A4C-444E-BBAC-8F56E4534D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29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214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878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193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2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sid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8A0F1A-22FB-45FF-80D6-4FE63A63E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19272"/>
            <a:ext cx="10058400" cy="44531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BD0440-9D47-4C93-95F9-EFC0FCF1C6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3575303"/>
            <a:ext cx="2889504" cy="2883863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4000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62D81F5-56E3-4D39-96F6-6C09DF4C28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cap="all" spc="30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0058400" cy="331927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51B54BE4-E4FF-CB9D-4AA3-438520D04D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4791" y="3575303"/>
            <a:ext cx="2898647" cy="444960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087368"/>
            <a:ext cx="2893612" cy="339111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013E0E94-05A3-AF4B-2D4B-AD8A4E2F8F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72003" y="3554097"/>
            <a:ext cx="2898647" cy="444960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569348C-F945-4CEC-9698-686F8ABC8B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7038" y="4087368"/>
            <a:ext cx="2893612" cy="1741653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1401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7DA993-9462-4064-B89B-BCEF27D4D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4476" y="3331758"/>
            <a:ext cx="3360592" cy="44406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931403-AA2F-415D-BC4C-E1168B62C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710" y="3329078"/>
            <a:ext cx="3360592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9F801B-9725-432B-9CE8-6F353446EC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3886200"/>
            <a:ext cx="2804477" cy="475315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2400" b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add text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340"/>
            <a:ext cx="3342882" cy="3329078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410389"/>
            <a:ext cx="2804477" cy="3114839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998F7F43-9F0A-4A12-909E-A0A45D5129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7760" y="0"/>
            <a:ext cx="2895600" cy="653143"/>
          </a:xfrm>
        </p:spPr>
        <p:txBody>
          <a:bodyPr lIns="0" anchor="b">
            <a:no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5331389-512C-445A-AAE9-512161E810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7442" y="653143"/>
            <a:ext cx="2895600" cy="3473689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5975" y="4471779"/>
            <a:ext cx="3348000" cy="3300621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03975" y="0"/>
            <a:ext cx="3354425" cy="3329078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77F65966-649A-4014-AAD1-3121592E2E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2615" y="4350709"/>
            <a:ext cx="2887103" cy="311483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9198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sid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8A0F1A-22FB-45FF-80D6-4FE63A63E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0" y="0"/>
            <a:ext cx="3355200" cy="7772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1E5D2-6D16-41B9-8D95-C3831084A5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4713694"/>
            <a:ext cx="2889504" cy="1770169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4000" b="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1E1772A-8C1A-43F8-A297-A2A1C4961A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cap="all" spc="3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492751-E9EF-463C-8C1E-1AA3A9B1D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55200" y="3886200"/>
            <a:ext cx="3348000" cy="3886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3655C91-4C63-7435-25A3-BB5C8713D9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282102"/>
            <a:ext cx="2894013" cy="1663429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2044385"/>
            <a:ext cx="2893612" cy="480709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52801" y="0"/>
            <a:ext cx="6705600" cy="44196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27622711-E5B3-A1BF-1F1D-7E5BD1EE63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76213" y="4521461"/>
            <a:ext cx="2898647" cy="670463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67651986-01F3-4697-A0D4-31F6A10983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7038" y="5216093"/>
            <a:ext cx="2893612" cy="1741653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7400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4B57A7-3A86-45DA-B5CA-AC7A481E3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355974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F3BCA9-2C74-4567-9FB2-2CE1AC28A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2425" y="0"/>
            <a:ext cx="3355975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7D4C849E-DCC1-4757-BBBF-C69B4CD0B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1" y="89036"/>
            <a:ext cx="2862734" cy="759499"/>
          </a:xfrm>
        </p:spPr>
        <p:txBody>
          <a:bodyPr vert="horz" lIns="0" tIns="45720" rIns="91440" bIns="45720" rtlCol="0" anchor="ctr">
            <a:noAutofit/>
          </a:bodyPr>
          <a:lstStyle>
            <a:lvl1pPr>
              <a:defRPr lang="en-US" sz="2400" b="0" cap="none" baseline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848535"/>
            <a:ext cx="2864802" cy="3505751"/>
          </a:xfrm>
        </p:spPr>
        <p:txBody>
          <a:bodyPr lIns="9144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43322"/>
            <a:ext cx="3348000" cy="3329078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5975" y="-1"/>
            <a:ext cx="3348000" cy="3300621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6A9BD8AF-34CA-4F04-9A17-B45F6EB3AA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1400" y="3554730"/>
            <a:ext cx="2895599" cy="3989070"/>
          </a:xfrm>
        </p:spPr>
        <p:txBody>
          <a:bodyPr lIns="0" anchor="ctr"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2390D74A-03BA-4C31-B59B-57CCDAF885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29400" y="89036"/>
            <a:ext cx="2898647" cy="670463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 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50BE2EB5-0041-4D2D-A6AE-4DE92FEED8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1151" y="848535"/>
            <a:ext cx="2898647" cy="3505751"/>
          </a:xfrm>
        </p:spPr>
        <p:txBody>
          <a:bodyPr lIns="91440">
            <a:normAutofit/>
          </a:bodyPr>
          <a:lstStyle>
            <a:lvl1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10400" y="4443322"/>
            <a:ext cx="3348000" cy="3329078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712004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615E1-5D6D-48CF-AD07-8B84FA4F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9601199" cy="1501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7D790-2770-4A00-BC9B-FA42651B6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599" y="2363788"/>
            <a:ext cx="9601199" cy="5180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369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4" r:id="rId2"/>
    <p:sldLayoutId id="2147483693" r:id="rId3"/>
    <p:sldLayoutId id="214748369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12" userDrawn="1">
          <p15:clr>
            <a:srgbClr val="F26B43"/>
          </p15:clr>
        </p15:guide>
        <p15:guide id="3" pos="4224" userDrawn="1">
          <p15:clr>
            <a:srgbClr val="F26B43"/>
          </p15:clr>
        </p15:guide>
        <p15:guide id="4" pos="144" userDrawn="1">
          <p15:clr>
            <a:srgbClr val="5ACBF0"/>
          </p15:clr>
        </p15:guide>
        <p15:guide id="6" pos="6192" userDrawn="1">
          <p15:clr>
            <a:srgbClr val="5ACBF0"/>
          </p15:clr>
        </p15:guide>
        <p15:guide id="8" orient="horz" pos="144" userDrawn="1">
          <p15:clr>
            <a:srgbClr val="5ACBF0"/>
          </p15:clr>
        </p15:guide>
        <p15:guide id="9" orient="horz" pos="4752" userDrawn="1">
          <p15:clr>
            <a:srgbClr val="5ACBF0"/>
          </p15:clr>
        </p15:guide>
        <p15:guide id="10" pos="1968" userDrawn="1">
          <p15:clr>
            <a:srgbClr val="5ACBF0"/>
          </p15:clr>
        </p15:guide>
        <p15:guide id="11" pos="2256" userDrawn="1">
          <p15:clr>
            <a:srgbClr val="5ACBF0"/>
          </p15:clr>
        </p15:guide>
        <p15:guide id="12" pos="4080" userDrawn="1">
          <p15:clr>
            <a:srgbClr val="5ACBF0"/>
          </p15:clr>
        </p15:guide>
        <p15:guide id="13" pos="4368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A808-7F12-4113-98A3-D227177B9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5038" y="3575303"/>
            <a:ext cx="2889504" cy="2883863"/>
          </a:xfrm>
        </p:spPr>
        <p:txBody>
          <a:bodyPr/>
          <a:lstStyle/>
          <a:p>
            <a:r>
              <a:rPr lang="en-US" dirty="0"/>
              <a:t>TAILWIND TRADERS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F6AA6-65E7-4E7A-B550-6220A6167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5038" y="6530864"/>
            <a:ext cx="2889504" cy="453005"/>
          </a:xfrm>
        </p:spPr>
        <p:txBody>
          <a:bodyPr/>
          <a:lstStyle/>
          <a:p>
            <a:r>
              <a:rPr lang="en-US" dirty="0"/>
              <a:t>INVEST IN YOUR FUTURE</a:t>
            </a:r>
          </a:p>
        </p:txBody>
      </p:sp>
      <p:pic>
        <p:nvPicPr>
          <p:cNvPr id="33" name="Picture Placeholder 32" descr="close up of mathematical graphs">
            <a:extLst>
              <a:ext uri="{FF2B5EF4-FFF2-40B4-BE49-F238E27FC236}">
                <a16:creationId xmlns:a16="http://schemas.microsoft.com/office/drawing/2014/main" id="{7BD14B25-FFA5-4B8F-896A-1D6AD5C15A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1" r="121"/>
          <a:stretch/>
        </p:blipFill>
        <p:spPr>
          <a:xfrm>
            <a:off x="0" y="0"/>
            <a:ext cx="10058400" cy="331927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550C0-A744-4D4E-B2C1-59093218801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24791" y="3575303"/>
            <a:ext cx="2898647" cy="444960"/>
          </a:xfrm>
        </p:spPr>
        <p:txBody>
          <a:bodyPr>
            <a:normAutofit/>
          </a:bodyPr>
          <a:lstStyle/>
          <a:p>
            <a:r>
              <a:rPr lang="en-US" dirty="0"/>
              <a:t>Our vision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61503-6CC8-46FC-A387-705D37A0FD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8600" y="4087368"/>
            <a:ext cx="2893612" cy="3391118"/>
          </a:xfrm>
        </p:spPr>
        <p:txBody>
          <a:bodyPr/>
          <a:lstStyle/>
          <a:p>
            <a:r>
              <a:rPr lang="en-US" dirty="0"/>
              <a:t>At Tailwind Traders, our vision is to empower individuals and businesses to navigate the complex world of investments and trading with confidence.</a:t>
            </a:r>
          </a:p>
          <a:p>
            <a:r>
              <a:rPr lang="en-US" dirty="0"/>
              <a:t>We strive to be a trusted partner, providing innovative financial solutions and personalized strategies that help our clients achieve their financial goals and secure a prosperous future.</a:t>
            </a:r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28E4C3E5-39D0-4E73-92D1-37B7D32F08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72003" y="3554097"/>
            <a:ext cx="2898647" cy="444960"/>
          </a:xfrm>
        </p:spPr>
        <p:txBody>
          <a:bodyPr>
            <a:normAutofit/>
          </a:bodyPr>
          <a:lstStyle/>
          <a:p>
            <a:r>
              <a:rPr lang="en-US" dirty="0"/>
              <a:t>Contact us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047EA2A-40A4-486B-B8C9-03B7FB0077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7038" y="4087368"/>
            <a:ext cx="2893612" cy="1741653"/>
          </a:xfrm>
        </p:spPr>
        <p:txBody>
          <a:bodyPr/>
          <a:lstStyle/>
          <a:p>
            <a:r>
              <a:rPr lang="en-US" dirty="0"/>
              <a:t>4567 Main St ​</a:t>
            </a:r>
          </a:p>
          <a:p>
            <a:r>
              <a:rPr lang="en-US" dirty="0"/>
              <a:t>Buffalo, NY 98052​</a:t>
            </a:r>
          </a:p>
          <a:p>
            <a:r>
              <a:rPr lang="en-US" dirty="0"/>
              <a:t>555-0100​</a:t>
            </a:r>
          </a:p>
          <a:p>
            <a:r>
              <a:rPr lang="en-US" dirty="0"/>
              <a:t>info@tailwindtraders.com​</a:t>
            </a:r>
          </a:p>
          <a:p>
            <a:r>
              <a:rPr lang="en-US" dirty="0"/>
              <a:t>tailwindtraders.com</a:t>
            </a:r>
          </a:p>
        </p:txBody>
      </p:sp>
      <p:pic>
        <p:nvPicPr>
          <p:cNvPr id="48" name="Picture Placeholder 16">
            <a:extLst>
              <a:ext uri="{FF2B5EF4-FFF2-40B4-BE49-F238E27FC236}">
                <a16:creationId xmlns:a16="http://schemas.microsoft.com/office/drawing/2014/main" id="{56A4B0FF-F042-47B0-871D-4A36B7293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90" b="90"/>
          <a:stretch>
            <a:fillRect/>
          </a:stretch>
        </p:blipFill>
        <p:spPr>
          <a:xfrm>
            <a:off x="7955780" y="4214597"/>
            <a:ext cx="881063" cy="8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86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85">
            <a:extLst>
              <a:ext uri="{FF2B5EF4-FFF2-40B4-BE49-F238E27FC236}">
                <a16:creationId xmlns:a16="http://schemas.microsoft.com/office/drawing/2014/main" id="{FD30442A-A1AE-4FD1-B045-22F09C71C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886200"/>
            <a:ext cx="2804477" cy="475315"/>
          </a:xfrm>
        </p:spPr>
        <p:txBody>
          <a:bodyPr/>
          <a:lstStyle/>
          <a:p>
            <a:r>
              <a:rPr lang="en-US" dirty="0"/>
              <a:t>Our services</a:t>
            </a:r>
            <a:br>
              <a:rPr lang="en-US" dirty="0"/>
            </a:br>
            <a:endParaRPr lang="en-US" dirty="0"/>
          </a:p>
        </p:txBody>
      </p:sp>
      <p:pic>
        <p:nvPicPr>
          <p:cNvPr id="25" name="Picture Placeholder 24" descr="group collaborating over a laptop">
            <a:extLst>
              <a:ext uri="{FF2B5EF4-FFF2-40B4-BE49-F238E27FC236}">
                <a16:creationId xmlns:a16="http://schemas.microsoft.com/office/drawing/2014/main" id="{3A866D61-5A53-48A0-9828-C82CDA027D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" b="71"/>
          <a:stretch/>
        </p:blipFill>
        <p:spPr>
          <a:xfrm>
            <a:off x="0" y="1340"/>
            <a:ext cx="3342882" cy="3329078"/>
          </a:xfr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16388D3-BE48-44F4-A6D7-DDF2293730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8600" y="4410389"/>
            <a:ext cx="2804477" cy="3114839"/>
          </a:xfrm>
        </p:spPr>
        <p:txBody>
          <a:bodyPr/>
          <a:lstStyle/>
          <a:p>
            <a:r>
              <a:rPr lang="en-US"/>
              <a:t>Tailwind Traders offers a comprehensive range of investment and trading services designed to meet the diverse needs of our clients.</a:t>
            </a:r>
          </a:p>
          <a:p>
            <a:r>
              <a:rPr lang="en-US"/>
              <a:t>From wealth management and portfolio advisory to equity trading and risk analysis, our team of experts leverages their in-depth market knowledge and cutting-edge technology to deliver tailored solutions that optimize returns and mitigate risks.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4508FAD-2D2E-458D-B98F-3AB625F327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97760" y="0"/>
            <a:ext cx="2895600" cy="653143"/>
          </a:xfrm>
        </p:spPr>
        <p:txBody>
          <a:bodyPr/>
          <a:lstStyle/>
          <a:p>
            <a:r>
              <a:rPr lang="en-US" dirty="0"/>
              <a:t>Our team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FD12705-AB70-40E3-A13F-B36B09C895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7442" y="653143"/>
            <a:ext cx="2895600" cy="3473689"/>
          </a:xfrm>
        </p:spPr>
        <p:txBody>
          <a:bodyPr/>
          <a:lstStyle/>
          <a:p>
            <a:r>
              <a:rPr lang="en-US"/>
              <a:t>At the heart of Tailwind Traders is our exceptional team of financial professionals who possess a deep understanding of the markets and a passion for delivering outstanding client service.</a:t>
            </a:r>
          </a:p>
          <a:p>
            <a:r>
              <a:rPr lang="en-US"/>
              <a:t>With a diverse range of backgrounds and expertise, our team combines analytical rigor with strategic thinking to provide informed investment advice and execute sophisticated trading strategies.</a:t>
            </a:r>
            <a:endParaRPr lang="en-US" dirty="0"/>
          </a:p>
        </p:txBody>
      </p:sp>
      <p:pic>
        <p:nvPicPr>
          <p:cNvPr id="8" name="Picture Placeholder 7" descr="pen drawing line graph">
            <a:extLst>
              <a:ext uri="{FF2B5EF4-FFF2-40B4-BE49-F238E27FC236}">
                <a16:creationId xmlns:a16="http://schemas.microsoft.com/office/drawing/2014/main" id="{CB99DC04-3520-4C11-90E0-A4F0438ED3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5" r="425"/>
          <a:stretch/>
        </p:blipFill>
        <p:spPr>
          <a:xfrm>
            <a:off x="3355975" y="4471779"/>
            <a:ext cx="3348000" cy="3300621"/>
          </a:xfrm>
        </p:spPr>
      </p:pic>
      <p:pic>
        <p:nvPicPr>
          <p:cNvPr id="9" name="Picture Placeholder 8" descr="woman holding binder leaving office">
            <a:extLst>
              <a:ext uri="{FF2B5EF4-FFF2-40B4-BE49-F238E27FC236}">
                <a16:creationId xmlns:a16="http://schemas.microsoft.com/office/drawing/2014/main" id="{7F4B8A9C-45CD-4CD3-9835-7B75C8E7DF8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5" b="95"/>
          <a:stretch/>
        </p:blipFill>
        <p:spPr>
          <a:xfrm>
            <a:off x="6703975" y="0"/>
            <a:ext cx="3354425" cy="3329078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C64EB9-E6EA-45AD-9476-BDDE899850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2615" y="4350709"/>
            <a:ext cx="2887103" cy="3114839"/>
          </a:xfrm>
        </p:spPr>
        <p:txBody>
          <a:bodyPr/>
          <a:lstStyle/>
          <a:p>
            <a:r>
              <a:rPr lang="en-US"/>
              <a:t>Our team of experts are here to help you develop successful strategies today for a financially secure tomorrow.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125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44">
            <a:extLst>
              <a:ext uri="{FF2B5EF4-FFF2-40B4-BE49-F238E27FC236}">
                <a16:creationId xmlns:a16="http://schemas.microsoft.com/office/drawing/2014/main" id="{2704561A-EBDC-4554-AB63-6E7F0AD34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5038" y="4713694"/>
            <a:ext cx="2889504" cy="1770169"/>
          </a:xfrm>
        </p:spPr>
        <p:txBody>
          <a:bodyPr/>
          <a:lstStyle/>
          <a:p>
            <a:r>
              <a:rPr lang="en-US"/>
              <a:t>TAILWIND TRADERS </a:t>
            </a:r>
            <a:endParaRPr lang="en-US" dirty="0"/>
          </a:p>
        </p:txBody>
      </p:sp>
      <p:sp>
        <p:nvSpPr>
          <p:cNvPr id="46" name="Subtitle 45">
            <a:extLst>
              <a:ext uri="{FF2B5EF4-FFF2-40B4-BE49-F238E27FC236}">
                <a16:creationId xmlns:a16="http://schemas.microsoft.com/office/drawing/2014/main" id="{84AA5B14-11B0-4875-B1F5-69DBF1E46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5038" y="6530864"/>
            <a:ext cx="2889504" cy="453005"/>
          </a:xfrm>
        </p:spPr>
        <p:txBody>
          <a:bodyPr/>
          <a:lstStyle/>
          <a:p>
            <a:r>
              <a:rPr lang="en-US"/>
              <a:t>INVEST IN YOUR FUTURE</a:t>
            </a:r>
          </a:p>
          <a:p>
            <a:endParaRPr lang="en-US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85B9EC67-E16B-4644-BE4E-9F3520D5AE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2102"/>
            <a:ext cx="2894013" cy="1663429"/>
          </a:xfrm>
        </p:spPr>
        <p:txBody>
          <a:bodyPr>
            <a:normAutofit/>
          </a:bodyPr>
          <a:lstStyle/>
          <a:p>
            <a:r>
              <a:rPr lang="en-US"/>
              <a:t>Our vision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9C5F90-E573-43D7-AC40-5AD946F4D0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8600" y="2044385"/>
            <a:ext cx="2893612" cy="4807095"/>
          </a:xfrm>
        </p:spPr>
        <p:txBody>
          <a:bodyPr/>
          <a:lstStyle/>
          <a:p>
            <a:r>
              <a:rPr lang="en-US"/>
              <a:t>Driven by our vision, we are committed to fostering long-term relationships with our clients, built on trust, transparency, and integrity.</a:t>
            </a:r>
          </a:p>
          <a:p>
            <a:r>
              <a:rPr lang="en-US"/>
              <a:t>Our aim is to be the go-to resource for investment and trading expertise, empowering individuals and businesses to make informed financial decisions and capitalize on market opportunities.</a:t>
            </a:r>
          </a:p>
          <a:p>
            <a:r>
              <a:rPr lang="en-US"/>
              <a:t>We envision a future where financial success is within reach for everyone, and we strive to make that vision a reality.</a:t>
            </a:r>
          </a:p>
          <a:p>
            <a:endParaRPr lang="en-US"/>
          </a:p>
          <a:p>
            <a:endParaRPr lang="en-US"/>
          </a:p>
          <a:p>
            <a:endParaRPr lang="en-US" dirty="0"/>
          </a:p>
        </p:txBody>
      </p:sp>
      <p:pic>
        <p:nvPicPr>
          <p:cNvPr id="41" name="Picture Placeholder 40" descr="close up of mathematical graphs">
            <a:extLst>
              <a:ext uri="{FF2B5EF4-FFF2-40B4-BE49-F238E27FC236}">
                <a16:creationId xmlns:a16="http://schemas.microsoft.com/office/drawing/2014/main" id="{B18AACB1-42A2-4B1E-8CE7-58311236AD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9" r="319"/>
          <a:stretch/>
        </p:blipFill>
        <p:spPr>
          <a:xfrm>
            <a:off x="3352801" y="0"/>
            <a:ext cx="6705600" cy="4419600"/>
          </a:xfrm>
        </p:spPr>
      </p:pic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510886A2-18AD-4F58-A88D-0836A93378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6213" y="4521461"/>
            <a:ext cx="2898647" cy="670463"/>
          </a:xfrm>
        </p:spPr>
        <p:txBody>
          <a:bodyPr>
            <a:normAutofit/>
          </a:bodyPr>
          <a:lstStyle/>
          <a:p>
            <a:r>
              <a:rPr lang="en-US"/>
              <a:t>Contact us</a:t>
            </a:r>
            <a:endParaRPr lang="en-US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188890BB-2976-4D42-B9BB-FE40645D12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7038" y="5216093"/>
            <a:ext cx="2893612" cy="1741653"/>
          </a:xfrm>
        </p:spPr>
        <p:txBody>
          <a:bodyPr/>
          <a:lstStyle/>
          <a:p>
            <a:r>
              <a:rPr lang="en-US"/>
              <a:t>4567 Main St ​</a:t>
            </a:r>
          </a:p>
          <a:p>
            <a:r>
              <a:rPr lang="en-US"/>
              <a:t>Buffalo, NY 98052​</a:t>
            </a:r>
          </a:p>
          <a:p>
            <a:r>
              <a:rPr lang="en-US"/>
              <a:t>555-0100​</a:t>
            </a:r>
          </a:p>
          <a:p>
            <a:r>
              <a:rPr lang="en-US"/>
              <a:t>info@tailwindtraders.com​</a:t>
            </a:r>
          </a:p>
          <a:p>
            <a:r>
              <a:rPr lang="en-US"/>
              <a:t>tailwindtraders.com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764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14">
            <a:extLst>
              <a:ext uri="{FF2B5EF4-FFF2-40B4-BE49-F238E27FC236}">
                <a16:creationId xmlns:a16="http://schemas.microsoft.com/office/drawing/2014/main" id="{D328ED67-05E4-4380-99B0-44D2DEB53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1" y="89036"/>
            <a:ext cx="2862734" cy="759499"/>
          </a:xfrm>
        </p:spPr>
        <p:txBody>
          <a:bodyPr/>
          <a:lstStyle/>
          <a:p>
            <a:r>
              <a:rPr lang="en-US" dirty="0"/>
              <a:t>Our services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435A574-EC9F-4321-9CA3-5D765C30B3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8600" y="848535"/>
            <a:ext cx="2864802" cy="3505751"/>
          </a:xfrm>
        </p:spPr>
        <p:txBody>
          <a:bodyPr/>
          <a:lstStyle/>
          <a:p>
            <a:r>
              <a:rPr lang="en-US"/>
              <a:t>Tailwind Traders offers a comprehensive range of investment and trading services designed to meet the diverse needs of our clients.</a:t>
            </a:r>
          </a:p>
          <a:p>
            <a:r>
              <a:rPr lang="en-US"/>
              <a:t>From wealth management and portfolio advisory to equity trading and risk analysis, our team of experts leverages their in-depth market knowledge and cutting-edge technology to deliver tailored solutions that optimize returns and mitigate risks.</a:t>
            </a:r>
            <a:endParaRPr lang="en-US" dirty="0"/>
          </a:p>
        </p:txBody>
      </p:sp>
      <p:pic>
        <p:nvPicPr>
          <p:cNvPr id="25" name="Picture Placeholder 24" descr="group collaborating over a laptop">
            <a:extLst>
              <a:ext uri="{FF2B5EF4-FFF2-40B4-BE49-F238E27FC236}">
                <a16:creationId xmlns:a16="http://schemas.microsoft.com/office/drawing/2014/main" id="{3A866D61-5A53-48A0-9828-C82CDA027D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443322"/>
            <a:ext cx="3348000" cy="3329078"/>
          </a:xfrm>
        </p:spPr>
      </p:pic>
      <p:pic>
        <p:nvPicPr>
          <p:cNvPr id="7" name="Picture Placeholder 6" descr="pen drawing line graph">
            <a:extLst>
              <a:ext uri="{FF2B5EF4-FFF2-40B4-BE49-F238E27FC236}">
                <a16:creationId xmlns:a16="http://schemas.microsoft.com/office/drawing/2014/main" id="{1E006552-A299-4408-9F54-B196F5056EA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"/>
          <a:stretch/>
        </p:blipFill>
        <p:spPr>
          <a:xfrm>
            <a:off x="3355975" y="-1"/>
            <a:ext cx="3348000" cy="3300621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457663-49C5-4FE7-93F7-6D408078AC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81400" y="3554730"/>
            <a:ext cx="2895599" cy="3989070"/>
          </a:xfrm>
        </p:spPr>
        <p:txBody>
          <a:bodyPr/>
          <a:lstStyle/>
          <a:p>
            <a:r>
              <a:rPr lang="en-US"/>
              <a:t>Our team of experts are here to help you develop successful strategies today for a financially secure tomorrow. 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F0CFD1C-F6E7-4B83-AB91-F24AF9E653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29400" y="89036"/>
            <a:ext cx="2898647" cy="670463"/>
          </a:xfrm>
        </p:spPr>
        <p:txBody>
          <a:bodyPr/>
          <a:lstStyle/>
          <a:p>
            <a:r>
              <a:rPr lang="en-US" dirty="0"/>
              <a:t>Our team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AB717E8-011C-4547-A6B4-B8F2FE4F15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31151" y="848535"/>
            <a:ext cx="2898647" cy="3505751"/>
          </a:xfrm>
        </p:spPr>
        <p:txBody>
          <a:bodyPr/>
          <a:lstStyle/>
          <a:p>
            <a:r>
              <a:rPr lang="en-US"/>
              <a:t>Seasoned professionals with extensive experience in finance, investment analysis, and trading strategies.</a:t>
            </a:r>
          </a:p>
          <a:p>
            <a:r>
              <a:rPr lang="en-US"/>
              <a:t>Strong track record of delivering consistent results and exceeding client expectations.</a:t>
            </a:r>
          </a:p>
          <a:p>
            <a:r>
              <a:rPr lang="en-US"/>
              <a:t>Collaborative and client-centric approach, ensuring personalized solutions tailored to individual needs and goals.</a:t>
            </a:r>
            <a:endParaRPr lang="en-US" dirty="0"/>
          </a:p>
        </p:txBody>
      </p:sp>
      <p:pic>
        <p:nvPicPr>
          <p:cNvPr id="8" name="Picture Placeholder 7" descr="woman holding binder leaving office">
            <a:extLst>
              <a:ext uri="{FF2B5EF4-FFF2-40B4-BE49-F238E27FC236}">
                <a16:creationId xmlns:a16="http://schemas.microsoft.com/office/drawing/2014/main" id="{672E69F0-216F-41E3-A8BF-4C5DA81E144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0400" y="4443322"/>
            <a:ext cx="3348000" cy="3329078"/>
          </a:xfrm>
        </p:spPr>
      </p:pic>
    </p:spTree>
    <p:extLst>
      <p:ext uri="{BB962C8B-B14F-4D97-AF65-F5344CB8AC3E}">
        <p14:creationId xmlns:p14="http://schemas.microsoft.com/office/powerpoint/2010/main" val="71932502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">
  <a:themeElements>
    <a:clrScheme name="Custom 5">
      <a:dk1>
        <a:srgbClr val="000000"/>
      </a:dk1>
      <a:lt1>
        <a:sysClr val="window" lastClr="FFFFFF"/>
      </a:lt1>
      <a:dk2>
        <a:srgbClr val="17406D"/>
      </a:dk2>
      <a:lt2>
        <a:srgbClr val="DBEFF9"/>
      </a:lt2>
      <a:accent1>
        <a:srgbClr val="82B1E4"/>
      </a:accent1>
      <a:accent2>
        <a:srgbClr val="17406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7406D"/>
      </a:hlink>
      <a:folHlink>
        <a:srgbClr val="82B1E4"/>
      </a:folHlink>
    </a:clrScheme>
    <a:fontScheme name="Custom 6">
      <a:majorFont>
        <a:latin typeface="Century Gothic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87" row="9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626E1F-ED93-4A4E-AF1C-1617B798BE36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095769-5942-4600-A53A-03E512C1B4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96FE40-54E0-4037-BA44-87E12A10571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583D91-7997-43AB-ABC2-40E0CE2D4BA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455</Words>
  <Application>Microsoft Office PowerPoint</Application>
  <PresentationFormat>Custom</PresentationFormat>
  <Paragraphs>43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Custom </vt:lpstr>
      <vt:lpstr>TAILWIND TRADERS</vt:lpstr>
      <vt:lpstr>Our services </vt:lpstr>
      <vt:lpstr>TAILWIND TRADERS </vt:lpstr>
      <vt:lpstr>Our services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2026-05-05T15:06:46Z</dcterms:created>
  <dcterms:modified xsi:type="dcterms:W3CDTF">2026-05-05T15:07:06Z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